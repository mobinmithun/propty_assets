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457200"/>
            <a:ext cx="2926080" cy="292608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926080"/>
            <a:ext cx="1828800" cy="1828800"/>
          </a:xfrm>
          <a:prstGeom prst="ellipse">
            <a:avLst/>
          </a:prstGeom>
          <a:solidFill>
            <a:srgbClr val="02C39A">
              <a:alpha val="20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Trusted Property Marketplace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5029200" cy="36576"/>
          </a:xfrm>
          <a:prstGeom prst="rect">
            <a:avLst/>
          </a:prstGeom>
          <a:solidFill>
            <a:srgbClr val="94A3B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Requirements · Business Strategy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· Tech Stack · Process Maps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·  April 2025  ·  Confidential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2103120"/>
            <a:ext cx="2651760" cy="192024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103120"/>
            <a:ext cx="2651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· Rent · Sell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Transparent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475488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6012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12618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Bangladesh property market is broken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755648"/>
            <a:ext cx="475488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755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SAM · SOM for BD prop-tech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505456"/>
            <a:ext cx="475488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5054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&amp; Product Vision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7614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Propty does and why it wins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55264"/>
            <a:ext cx="475488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112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bproperty, bikroy &amp; global peers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4005072"/>
            <a:ext cx="475488" cy="475488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40050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42611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Commission-led revenue engine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1005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List &amp; User Stories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40680" y="126187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for dev team execution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1755648"/>
            <a:ext cx="475488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1755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40680" y="17556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4068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architecture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505456"/>
            <a:ext cx="475488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505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40680" y="25054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Maps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40680" y="27614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user flows &amp; ops workflows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3255264"/>
            <a:ext cx="475488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32552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4068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Roadmap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440680" y="351129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delivery plan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4005072"/>
            <a:ext cx="475488" cy="475488"/>
          </a:xfrm>
          <a:prstGeom prst="rect">
            <a:avLst/>
          </a:prstGeom>
          <a:solidFill>
            <a:srgbClr val="02C39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46320" y="40050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40680" y="40050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40680" y="426110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Property Market is Fundamentally Broken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023360" cy="1371600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91640"/>
            <a:ext cx="502920" cy="13716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2103120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&amp; Unverified Listings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0120" y="21305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 of listings on existing platforms are duplicate, outdated or completely fabricated. Buyers waste weeks chasing ghost properties.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691640"/>
            <a:ext cx="4023360" cy="1371600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691640"/>
            <a:ext cx="502920" cy="137160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176" y="2103120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7830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Price Transparency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349240" y="213055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standardised pricing data. Sellers quote arbitrary prices; buyers have no benchmark. Negotiations are opaque and prone to manipulation.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3246120"/>
            <a:ext cx="4023360" cy="1371600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3246120"/>
            <a:ext cx="502920" cy="13716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3657600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6012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Untrustworthy Agents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960120" y="3685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broker rating or verification system. Renters and buyers cannot differentiate between professional agents and fly-by-night operators.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754880" y="3246120"/>
            <a:ext cx="4023360" cy="1371600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754880" y="3246120"/>
            <a:ext cx="502920" cy="137160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7176" y="3657600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49240" y="33375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Are Invisible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349240" y="3685032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developers in Dhaka, Chittagong, Sylhet have minimal digital footprint. Projects sell through word-of-mouth and physical banners.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Market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real estate is a $10B+ industry — barely digitised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22860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06040" cy="731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$12B+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Bangladesh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market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transaction value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22860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2606040" cy="731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3756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$3.2B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33756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residential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(Dhaka, CTG, Sylhet,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Rajshahi, Khulna)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06040" cy="22860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280160"/>
            <a:ext cx="260604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1874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$48M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217920" y="2606040"/>
            <a:ext cx="26060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 Year 3 target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(1.5% of SAM via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model)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168M+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7432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with rising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middle class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46888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6888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real estate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 rate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6344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transactions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online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85800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2.4M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858000" y="43159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Dhaka households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 housing yearly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767328"/>
            <a:ext cx="8412480" cy="27432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Solution &amp; Product Vision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Propty: Bangladesh's First Fully Verified, AI-Powered Property Marketplace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8412480" cy="685800"/>
          </a:xfrm>
          <a:prstGeom prst="rect">
            <a:avLst/>
          </a:prstGeom>
          <a:solidFill>
            <a:srgbClr val="E0F4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508760"/>
            <a:ext cx="8138160" cy="6858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1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"Propty makes every property transaction in Bangladesh trustworthy — verified listings, transparent pricing, accountable agents, and digital-first developer access, all in one place."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25603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2606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Listing Badge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798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undergoes a 3-step verification: document check, agent confirmation, and photo validation. Fake listings get zero visibility.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37744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64608" y="25603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6060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8640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Estimator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486400" y="279806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trained on Dhaka/Chittagong transaction data gives buyers a fair price range instantly — ending opaque negotiation.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37033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75488" y="3886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39319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972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Agent Chat &amp; Booking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97280" y="4123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connect, chat, and book property visits directly from Propty. Agents are rated after each interaction.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37033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864608" y="3886200"/>
            <a:ext cx="502920" cy="502920"/>
          </a:xfrm>
          <a:prstGeom prst="ellipse">
            <a:avLst/>
          </a:prstGeom>
          <a:solidFill>
            <a:srgbClr val="1A3A5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931920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864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Document Assistance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0" y="412394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bainanama (sale agreement) templates, lawyer referrals, and document checklist — reducing friction at deal close.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Competitive Landscape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3749040"/>
        </p:xfrm>
        <a:graphic>
          <a:graphicData uri="http://schemas.openxmlformats.org/drawingml/2006/table">
            <a:tbl>
              <a:tblPr/>
              <a:tblGrid>
                <a:gridCol w="2103120"/>
                <a:gridCol w="1188720"/>
                <a:gridCol w="1371600"/>
                <a:gridCol w="1188720"/>
                <a:gridCol w="1463040"/>
                <a:gridCol w="1280160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Propty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bproperty.com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bikroy.com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Magicbricks (IN)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Zillow (US)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34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Verified Listings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AI Price Estimator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Basic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Zestimate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In-App Agent Chat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Phone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Legal/Doc Assistance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Developer Portal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Full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BD-Specific Data Model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Native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✓ Native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Commission Revenue Model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Primary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Lead-based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Ads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Lead-based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Ads+Mortg.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B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475569"/>
                          </a:solidFill>
                        </a:rPr>
                        <a:t>Bengali Content Support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15F6B"/>
                          </a:solidFill>
                        </a:rPr>
                        <a:t>✓ Yes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Partial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✗ No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274320" y="482803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= Propty's competitive advantage over local incumbents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Business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solidFill>
            <a:srgbClr val="0A2342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8138160" cy="5943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Revenue: Commission on Closed Deals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54864" cy="5303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56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 Commission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10312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34640" y="1874520"/>
            <a:ext cx="100584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1–2%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77640" y="187452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 value on successfully closed buy/sell deals facilitated through Propty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95728"/>
            <a:ext cx="54864" cy="53035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4688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Commission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7157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834640" y="2487168"/>
            <a:ext cx="1005840" cy="32004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24871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mo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4871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Half-month's rent charged to the landlord on rental agreements signed via platform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3008376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008376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0815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Listings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3328416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0" y="3099816"/>
            <a:ext cx="1005840" cy="32004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2834640" y="309981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2–5K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77640" y="3099816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&amp; agents pay for premium visibility, banner placement and early search ranking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621024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3621024"/>
            <a:ext cx="54864" cy="5303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6941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Subscription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394106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834640" y="3712464"/>
            <a:ext cx="1005840" cy="320040"/>
          </a:xfrm>
          <a:prstGeom prst="rect">
            <a:avLst/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37124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500/mo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77640" y="3712464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agent tier with advanced CRM, unlimited listings, analytics dashboard &amp; lead scoring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4233672"/>
            <a:ext cx="841248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65760" y="4233672"/>
            <a:ext cx="54864" cy="5303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306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Services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455371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834640" y="4325112"/>
            <a:ext cx="1005840" cy="32004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0" y="43251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BDT 3–8K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977640" y="432511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share from partnered law firms for document review, bainanama drafting &amp; registration support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Feature List &amp; User Stories — MVP Scope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2893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buyer, I can search verified properties by city, area, price range and type (apartment/house/commercial)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an owner, I can submit a listing with photos, price, and documents for verification review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05156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Engine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28930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Propty admin, I can review listing documents and grant/revoke verified badge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37760" y="153619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user, I can see a badge on every verified listing and understand why it's trusted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Tool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2951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buyer, I can get an instant estimated fair market value for any listing based on location, size &amp; age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65760" y="25420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seller, I can enter property details and get a suggested listing price range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196596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96596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05740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Discovery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29514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user, I can browse agent profiles with ratings, reviews, transaction history &amp; speciality areas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254203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an agent, I can create a profile, list properties, and receive booking requests from users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063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Messaging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33009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buyer/renter, I can message an agent or owner directly within the app without sharing my phone number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3547872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an agent, I can manage all enquiries in a unified inbox with property context attached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97180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97180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0632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Visit Booking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30098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buyer, I can book a physical site visit through the platform and get confirmation + reminders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97764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97764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Portal (B2B)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43068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developer company, I can create a project page with floor plans, pricing, and brochure downloads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46320" y="3977640"/>
            <a:ext cx="4206240" cy="886968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977640"/>
            <a:ext cx="420624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40690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Assistance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937760" y="4306824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As a buyer, I can download a bainanama template and request a lawyer referral from Propty's partner network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Recommended Tech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60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(Web)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38912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+ TypeScript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06040" y="109728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SEO-critical for property search, fast SSR, strong BD developer community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05840"/>
            <a:ext cx="64008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10912" y="106070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(Phase 2)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10912" y="12618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(Expo)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78040" y="1097280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reuse from web, Android-first for BD market demographics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1810512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10512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" y="18653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8912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/ Fastify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06040" y="190195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API layer, large talent pool in Dhaka for hiring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846320" y="1810512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810512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912" y="186537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010912" y="20665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1901952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integrity for listings/transactions + geospatial queries for map search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2615184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615184"/>
            <a:ext cx="64008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8912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/ Meilisearch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270662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Bengali + English search, filter by area, price, type instantly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46320" y="2615184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2615184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010912" y="26700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010912" y="2871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 + scikit-learn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78040" y="2706624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estimator microservice, trained on BD property transaction datasets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74320" y="3419856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74320" y="3419856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File/Image Storage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38912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CloudFront CDN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606040" y="351129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photos, documents; CDN for fast image load across BD cities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46320" y="3419856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419856"/>
            <a:ext cx="64008" cy="71323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1" name="Text 39"/>
          <p:cNvSpPr/>
          <p:nvPr/>
        </p:nvSpPr>
        <p:spPr>
          <a:xfrm>
            <a:off x="5010912" y="3474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10912" y="36758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Auth0 / Firebase Auth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3511296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login + phone OTP (critical for BD user onboarding)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274320" y="4224528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74320" y="4224528"/>
            <a:ext cx="64008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38912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38912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SSLCommerz + bKash API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2606040" y="43159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BD payment gateways — critical for commission collection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846320" y="4224528"/>
            <a:ext cx="420624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846320" y="4224528"/>
            <a:ext cx="64008" cy="7132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1" name="Text 49"/>
          <p:cNvSpPr/>
          <p:nvPr/>
        </p:nvSpPr>
        <p:spPr>
          <a:xfrm>
            <a:off x="5010912" y="42793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5010912" y="4480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Mapbox / Google Maps API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78040" y="4315968"/>
            <a:ext cx="18105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location pins, area boundary overlays, nearby amenities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Key Process Maps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Search → Deal Close Flow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353312"/>
            <a:ext cx="10058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325880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27048" y="1353312"/>
            <a:ext cx="10058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7048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32888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34056" y="1353312"/>
            <a:ext cx="10058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34056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9896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41064" y="1353312"/>
            <a:ext cx="10058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41064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946904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48072" y="1353312"/>
            <a:ext cx="10058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53912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1353312"/>
            <a:ext cx="100584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60920" y="1682496"/>
            <a:ext cx="20116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62088" y="1353312"/>
            <a:ext cx="100584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62088" y="1353312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65760" y="221284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Verification Workflow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578608"/>
            <a:ext cx="12344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Submits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+ Docs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1554480" y="2907792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783080" y="2578608"/>
            <a:ext cx="12344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8308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Auto-Duplicate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(AI)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3017520" y="2907792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578608"/>
            <a:ext cx="123444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480560" y="2907792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2578608"/>
            <a:ext cx="123444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Visit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(if needed)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943600" y="2907792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72200" y="2578608"/>
            <a:ext cx="123444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7220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Granted ✓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Rejected ✗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06640" y="2907792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635240" y="2578608"/>
            <a:ext cx="123444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2578608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65760" y="34290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Collection Flow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20040" y="3794760"/>
            <a:ext cx="12344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004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App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1554480" y="4123944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83080" y="3794760"/>
            <a:ext cx="1234440" cy="658368"/>
          </a:xfrm>
          <a:prstGeom prst="rect">
            <a:avLst/>
          </a:prstGeom>
          <a:solidFill>
            <a:srgbClr val="E0F4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8308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017520" y="4123944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46120" y="3794760"/>
            <a:ext cx="123444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4612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bKash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SSLCommerz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480560" y="4123944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09160" y="3794760"/>
            <a:ext cx="1234440" cy="658368"/>
          </a:xfrm>
          <a:prstGeom prst="rect">
            <a:avLst/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70916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in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943600" y="4123944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3794760"/>
            <a:ext cx="123444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406640" y="4123944"/>
            <a:ext cx="22860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635240" y="3794760"/>
            <a:ext cx="1234440" cy="658368"/>
          </a:xfrm>
          <a:prstGeom prst="rect">
            <a:avLst/>
          </a:prstGeom>
          <a:solidFill>
            <a:srgbClr val="D1FAE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635240" y="3794760"/>
            <a:ext cx="1234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Propty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6-Month Delivery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1993392" cy="56692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Design system &amp; brand kit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24505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Tech architecture finalised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9992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DB schema designed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35478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Domain, hosting, CI/CD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84048" y="409651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&amp; owner onboarding flow wireframes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50592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50592" y="960120"/>
            <a:ext cx="1993392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450592" y="960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50592" y="12344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50592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MVP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Listing submission + search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4505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Verification badge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29992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profiles + ratings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0" y="35478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In-app messaging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560320" y="409651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Web launch (Dhaka focus)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26864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26864" y="960120"/>
            <a:ext cx="1993392" cy="56692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4626864" y="960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26864" y="12344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26864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36592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price estimator (beta)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36592" y="24505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Property visit booking system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36592" y="29992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Developer portal launch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36592" y="35478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Featured listings monetisation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36592" y="409651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Chittagong, Sylhet rollout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03136" y="960120"/>
            <a:ext cx="1993392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03136" y="960120"/>
            <a:ext cx="1993392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803136" y="9601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03136" y="1234440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03136" y="1572768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Scale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12864" y="190195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Commission collection (bKash/SSL)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12864" y="245059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Legal document templates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12864" y="299923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Agent subscription tier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12864" y="354787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Analytics dashboard (agents)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12864" y="4096512"/>
            <a:ext cx="1792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National city rollout complete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5" name="Text 43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PM Note: Phase 1 deliberately scoped tight. All 4 differentiators only ship in Phase 2–3. This ensures the dev team ships something working before full ambition is unlocked.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Risk Register &amp; Mitigation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576072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5760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6984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 Start: No listings at launch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" y="1325880"/>
            <a:ext cx="685800" cy="18288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13258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566160" y="1115568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09728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Pre-seed 500 verified listings in Dhaka before public launch via direct agent outreach &amp; incentive programme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673352"/>
            <a:ext cx="64008" cy="5760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" y="173736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resistance from agents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" y="1993392"/>
            <a:ext cx="685800" cy="182880"/>
          </a:xfrm>
          <a:prstGeom prst="rect">
            <a:avLst/>
          </a:prstGeom>
          <a:solidFill>
            <a:srgbClr val="EF4444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" y="199339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66160" y="1783080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03320" y="1764792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Free agent tier with value (leads, CRM) drives adoption before commission model activates at deal close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340864"/>
            <a:ext cx="8595360" cy="576072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340864"/>
            <a:ext cx="64008" cy="576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2404872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listings re-enter after verification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2660904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" y="266090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566160" y="2450592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03320" y="2432304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Community flagging + monthly spot re-verification; badges expire every 90 days if not renewed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008376"/>
            <a:ext cx="859536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008376"/>
            <a:ext cx="64008" cy="576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38912" y="3072384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model inaccuracy (early)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3328416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33284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566160" y="3118104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03320" y="3099816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Label as 'Price Guide' not valuation; improve model iteratively as transaction data accumulates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675888"/>
            <a:ext cx="8595360" cy="576072"/>
          </a:xfrm>
          <a:prstGeom prst="rect">
            <a:avLst/>
          </a:prstGeom>
          <a:solidFill>
            <a:srgbClr val="F7FA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675888"/>
            <a:ext cx="64008" cy="5760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38912" y="3739896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copies features fast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38912" y="3995928"/>
            <a:ext cx="685800" cy="1828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39959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Impact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566160" y="3785616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03320" y="3767328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Network effects (verified agent base + data moat) matter more than features; focus on trust, not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" y="4343400"/>
            <a:ext cx="859536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74320" y="4343400"/>
            <a:ext cx="64008" cy="5760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438912" y="44074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payment gateway reliability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8912" y="4663440"/>
            <a:ext cx="685800" cy="18288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38912" y="46634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Impact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566160" y="4453128"/>
            <a:ext cx="0" cy="36576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03320" y="4434840"/>
            <a:ext cx="5029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Multi-gateway fallback: SSLCommerz primary, bKash secondary, DBBL Nexus tertiary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5727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Bangladesh's Trusted Property Marketplace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· Transparent · Trusted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3063240"/>
            <a:ext cx="4572000" cy="1188720"/>
          </a:xfrm>
          <a:prstGeom prst="rect">
            <a:avLst/>
          </a:prstGeom>
          <a:solidFill>
            <a:srgbClr val="028090">
              <a:alpha val="85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3063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build.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ship.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Propty · v1.0 · April 2025 · Confidential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Propty — Product &amp; Business Plan</dc:title>
  <dc:subject>PptxGenJS Presentation</dc:subject>
  <dc:creator>Propty PM</dc:creator>
  <cp:lastModifiedBy>Propty PM</cp:lastModifiedBy>
  <cp:revision>1</cp:revision>
  <dcterms:created xsi:type="dcterms:W3CDTF">2026-04-23T07:46:55Z</dcterms:created>
  <dcterms:modified xsi:type="dcterms:W3CDTF">2026-04-23T07:46:55Z</dcterms:modified>
</cp:coreProperties>
</file>